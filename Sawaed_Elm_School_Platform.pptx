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011680"/>
            <a:ext cx="1828800" cy="54864"/>
          </a:xfrm>
          <a:prstGeom prst="roundRect">
            <a:avLst/>
          </a:prstGeom>
          <a:solidFill>
            <a:srgbClr val="1BC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6F1FF"/>
                </a:solidFill>
                <a:latin typeface="Calibri"/>
              </a:defRPr>
            </a:pPr>
            <a:r>
              <a:t>Sawaed Elm — One App for Your Whole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B2D1"/>
                </a:solidFill>
                <a:latin typeface="Calibri"/>
              </a:defRPr>
            </a:pPr>
            <a:r>
              <a:t>Connects students, parents, teachers, and administrators — learning, communication, attendance, fees, transport, and school life, all in one place. Secured and available in Arabic and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onsolas"/>
              </a:defRPr>
            </a:pPr>
            <a:r>
              <a:t>Smart School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onsolas"/>
              </a:defRPr>
            </a:pPr>
            <a:r>
              <a:t>01.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F1FF"/>
                </a:solidFill>
                <a:latin typeface="Calibri"/>
              </a:defRPr>
            </a:pPr>
            <a:r>
              <a:t>One Platform, Every Part of School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8B2D1"/>
                </a:solidFill>
                <a:latin typeface="Calibri"/>
              </a:defRPr>
            </a:pPr>
            <a:r>
              <a:t>Sawaed Elm brings every part of school life into a single, easy-to-use mobile and web experience: learning, communication, attendance, fees, transport, and school life — all in one place, secured and available in Arabic and English.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371600" cy="54864"/>
          </a:xfrm>
          <a:prstGeom prst="roundRect">
            <a:avLst/>
          </a:prstGeom>
          <a:solidFill>
            <a:srgbClr val="1BC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F1FF"/>
                </a:solidFill>
                <a:latin typeface="Calibri"/>
              </a:defRPr>
            </a:pPr>
            <a:r>
              <a:t>What No One Else Offers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B2D1"/>
                </a:solidFill>
                <a:latin typeface="Calibri"/>
              </a:defRPr>
            </a:pPr>
            <a:r>
              <a:t>• A private, school-only social network — the engagement of Instagram and WhatsApp Status, built safely inside your school.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B2D1"/>
                </a:solidFill>
                <a:latin typeface="Calibri"/>
              </a:defRPr>
            </a:pPr>
            <a:r>
              <a:t>• Sawaed AI — a personal AI assistant that actually knows each student's real school data and answers accordingly.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CEDF"/>
                </a:solidFill>
                <a:latin typeface="Calibri"/>
              </a:defRPr>
            </a:pPr>
            <a:r>
              <a:t>These are not add-ons. They are why families open the app every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onsolas"/>
              </a:defRPr>
            </a:pPr>
            <a:r>
              <a:t>02.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F1FF"/>
                </a:solidFill>
                <a:latin typeface="Calibri"/>
              </a:defRPr>
            </a:pPr>
            <a:r>
              <a:t>The School Social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8B2D1"/>
                </a:solidFill>
                <a:latin typeface="Calibri"/>
              </a:defRPr>
            </a:pPr>
            <a:r>
              <a:t>Today's students and parents live on social media. Sawaed Elm gives them that same experience — the feed, the stories, the reels, the reactions — but in a safe, private, school-only space with no strangers, no ads, and no outside content.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148840" cy="292608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A Living School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1691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A dynamic feed of posts from teachers, staff, and the school — photos, videos, and text.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Reactions — students and parents react to celebrate achievements, events, and announcements.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Comments — real conversation around school moments, in a moderated, school-only 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286000"/>
            <a:ext cx="2148840" cy="292608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423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Stories &amp; Reels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834640"/>
            <a:ext cx="1691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Statuses (Stories) — short, auto-expiring updates, exactly like the stories families use every day.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Reels — short-form school videos for events, sports days, performances, and celebrations.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Seen-by / Viewers — authors can see who has viewed a post or reel.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286000"/>
            <a:ext cx="2148840" cy="292608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423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Polls &amp;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834640"/>
            <a:ext cx="1691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Polls — ask the community a question and get instant results: trip preferences, event dates, feedback.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Everything drives two-way engagement instead of one-way announcements.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286000"/>
            <a:ext cx="2148840" cy="292608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423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Smart, Safe Audience Targeting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834640"/>
            <a:ext cx="1691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Whole school, staff only, or students &amp; parents.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A specific grade or even a single class/section.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A Grade 3 teacher's message reaches Grade 3 families — and no one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286000"/>
            <a:ext cx="2148840" cy="292608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2423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Safe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834640"/>
            <a:ext cx="1691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School-only. No outsiders, no public internet exposure — a closed community.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Moderated. Staff control what's posted and can remove content; students can be blocked from posting when needed.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Rich media, delivered fast. Photos and videos stream quickly and securely worldwide through a global CDN.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CEDF"/>
                </a:solidFill>
                <a:latin typeface="Calibri"/>
              </a:defRPr>
            </a:pPr>
            <a:r>
              <a:t>Parents and students check the app the way they check social media — daily, willingly, and often. That engagement is something no traditional school system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onsolas"/>
              </a:defRPr>
            </a:pPr>
            <a:r>
              <a:t>03.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F1FF"/>
                </a:solidFill>
                <a:latin typeface="Calibri"/>
              </a:defRPr>
            </a:pPr>
            <a:r>
              <a:t>Sawaed AI, the Assistant That Knows the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8B2D1"/>
                </a:solidFill>
                <a:latin typeface="Calibri"/>
              </a:defRPr>
            </a:pPr>
            <a:r>
              <a:t>Every school app now claims to have AI. They all do the same thing: a generic chatbot that answers general questions. Sawaed AI is fundamentally different. It is connected to the school's real data, so it answers about this student — securely, personally, and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F1FF"/>
                </a:solidFill>
                <a:latin typeface="Calibri"/>
              </a:defRPr>
            </a:pPr>
            <a:r>
              <a:t>It Answers Real Questions About the Real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8B2D1"/>
                </a:solidFill>
              </a:defRPr>
            </a:pPr>
            <a:r>
              <a:t>▹  "How many days has my son been absent this term?"</a:t>
            </a:r>
          </a:p>
          <a:p>
            <a:pPr>
              <a:spcAft>
                <a:spcPts val="800"/>
              </a:spcAft>
              <a:defRPr sz="1400">
                <a:solidFill>
                  <a:srgbClr val="A8B2D1"/>
                </a:solidFill>
              </a:defRPr>
            </a:pPr>
            <a:r>
              <a:t>▹  "What homework does my daughter have this week?"</a:t>
            </a:r>
          </a:p>
          <a:p>
            <a:pPr>
              <a:spcAft>
                <a:spcPts val="800"/>
              </a:spcAft>
              <a:defRPr sz="1400">
                <a:solidFill>
                  <a:srgbClr val="A8B2D1"/>
                </a:solidFill>
              </a:defRPr>
            </a:pPr>
            <a:r>
              <a:t>▹  "How is my child doing academically overall?"</a:t>
            </a:r>
          </a:p>
          <a:p>
            <a:pPr>
              <a:spcAft>
                <a:spcPts val="800"/>
              </a:spcAft>
              <a:defRPr sz="1400">
                <a:solidFill>
                  <a:srgbClr val="A8B2D1"/>
                </a:solidFill>
              </a:defRPr>
            </a:pPr>
            <a:r>
              <a:t>▹  "What school fees are still unpaid, and when are they due?"</a:t>
            </a:r>
          </a:p>
          <a:p>
            <a:pPr>
              <a:spcAft>
                <a:spcPts val="800"/>
              </a:spcAft>
              <a:defRPr sz="1400">
                <a:solidFill>
                  <a:srgbClr val="A8B2D1"/>
                </a:solidFill>
              </a:defRPr>
            </a:pPr>
            <a:r>
              <a:t>▹  "What events or exams are coming up for my child?"</a:t>
            </a:r>
          </a:p>
          <a:p>
            <a:pPr>
              <a:spcBef>
                <a:spcPts val="1000"/>
              </a:spcBef>
              <a:defRPr sz="1300" i="1">
                <a:solidFill>
                  <a:srgbClr val="1BCEDF"/>
                </a:solidFill>
              </a:defRPr>
            </a:pPr>
            <a:r>
              <a:t>…and Sawaed AI looks up the actual answer from the school's system and replies — no digging through menus, no calling the office.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F1FF"/>
                </a:solidFill>
                <a:latin typeface="Calibri"/>
              </a:defRPr>
            </a:pPr>
            <a:r>
              <a:t>Powered by Real, Permission-Aware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8B2D1"/>
                </a:solidFill>
              </a:defRPr>
            </a:pPr>
            <a:r>
              <a:t>▹  The parent's linked children — it knows exactly who is being asked about.</a:t>
            </a:r>
          </a:p>
          <a:p>
            <a:pPr>
              <a:spcAft>
                <a:spcPts val="600"/>
              </a:spcAft>
              <a:defRPr sz="1300">
                <a:solidFill>
                  <a:srgbClr val="A8B2D1"/>
                </a:solidFill>
              </a:defRPr>
            </a:pPr>
            <a:r>
              <a:t>▹  Attendance — days attended, absences, sick days, leave.</a:t>
            </a:r>
          </a:p>
          <a:p>
            <a:pPr>
              <a:spcAft>
                <a:spcPts val="600"/>
              </a:spcAft>
              <a:defRPr sz="1300">
                <a:solidFill>
                  <a:srgbClr val="A8B2D1"/>
                </a:solidFill>
              </a:defRPr>
            </a:pPr>
            <a:r>
              <a:t>▹  Assignments &amp; homework — what's due, for the right class.</a:t>
            </a:r>
          </a:p>
          <a:p>
            <a:pPr>
              <a:spcAft>
                <a:spcPts val="600"/>
              </a:spcAft>
              <a:defRPr sz="1300">
                <a:solidFill>
                  <a:srgbClr val="A8B2D1"/>
                </a:solidFill>
              </a:defRPr>
            </a:pPr>
            <a:r>
              <a:t>▹  Academic summary — the student's overall picture in one answer.</a:t>
            </a:r>
          </a:p>
          <a:p>
            <a:pPr>
              <a:spcAft>
                <a:spcPts val="600"/>
              </a:spcAft>
              <a:defRPr sz="1300">
                <a:solidFill>
                  <a:srgbClr val="A8B2D1"/>
                </a:solidFill>
              </a:defRPr>
            </a:pPr>
            <a:r>
              <a:t>▹  Fees &amp; installments — amounts, due dates, what's paid and outstanding.</a:t>
            </a:r>
          </a:p>
          <a:p>
            <a:pPr>
              <a:spcAft>
                <a:spcPts val="600"/>
              </a:spcAft>
              <a:defRPr sz="1300">
                <a:solidFill>
                  <a:srgbClr val="A8B2D1"/>
                </a:solidFill>
              </a:defRPr>
            </a:pPr>
            <a:r>
              <a:t>▹  Upcoming events &amp; exams — relevant to that specific student.</a:t>
            </a:r>
          </a:p>
          <a:p>
            <a:pPr>
              <a:spcAft>
                <a:spcPts val="600"/>
              </a:spcAft>
              <a:defRPr sz="1300">
                <a:solidFill>
                  <a:srgbClr val="A8B2D1"/>
                </a:solidFill>
              </a:defRPr>
            </a:pPr>
            <a:r>
              <a:t>▹  App help guide — "how do I…?" questions answered from within the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CEDF"/>
                </a:solidFill>
                <a:latin typeface="Calibri"/>
              </a:defRPr>
            </a:pPr>
            <a:r>
              <a:t>The front office stops fielding the same phone calls. Parents get instant, accurate, personal answers. It's the difference between a chatbot and a real assistant — and no competitor offers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onsolas"/>
              </a:defRPr>
            </a:pPr>
            <a:r>
              <a:t>04.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F1FF"/>
                </a:solidFill>
                <a:latin typeface="Calibri"/>
              </a:defRPr>
            </a:pPr>
            <a:r>
              <a:t>The Complete Feature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8B2D1"/>
                </a:solidFill>
                <a:latin typeface="Calibri"/>
              </a:defRPr>
            </a:pPr>
            <a:r>
              <a:t>Alongside the two flagship features, Sawaed Elm is a full school operating system — built for five roles: Students, Parents, Teachers, Administrators, and Drivers — each with a home screen made for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657600" cy="34747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📚  Learning &amp; Academics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Courses in Arabic, English, and French, organized by grade and section.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Teaching assignments — assign staff to each course; reassigning moves access instantly.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Assignments &amp; homework — teachers create, publish, and target homework to the class.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Submissions &amp; grading — students submit in-app; teachers grade and return results.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Exams — schedule exams with date, time, and total marks; parents and students see what's coming.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103120"/>
            <a:ext cx="3657600" cy="34747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📝  Attendance &amp; Leave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517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Fast daily attendance — teachers mark a whole class in seconds.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Real-time parent alerts — the moment a child is marked absent, the family knows.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Student attendance summary — days present, absent, sick, and on leave.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Attendance reports — per-student and school-wide reports.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Digital leave requests — parents request leave in-app; staff approve or decline with one tap.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03120"/>
            <a:ext cx="3657600" cy="34747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💬 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517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Family–school messaging — secure, private conversations with read receipts and unread counts.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Inbox — every conversation in one organized place.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Push notifications — instant alerts for absences, grades, messages, fees, events, and announcements.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Notification preferences — each user controls exactly what they're notified about.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60720"/>
            <a:ext cx="3657600" cy="34747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897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💳  Finance &amp;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093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Flexible fee plans — split total fees into installments, applied per year, grade, or section.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Pay monthly, yearly, or several months at once — one payment can cover multiple installments.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Automatic installment status — Paid, Partially Paid, Remaining, or Overdue, calculated in real time.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Record real-world payments in seconds — auto-generated invoices with reference numbers.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Approval workflow — payments start as pending and only count once an authorized manager approves.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onsolas"/>
              </a:defRPr>
            </a:pPr>
            <a:r>
              <a:t>04.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F1FF"/>
                </a:solidFill>
                <a:latin typeface="Calibri"/>
              </a:defRPr>
            </a:pPr>
            <a:r>
              <a:t>The Complete Feature Catalog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3657600" cy="34747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🚌  Transportation &amp;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Live bus tracking — parents watch the bus move on the map in real time.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Per-student pickup &amp; drop-off status — confirmed picked up / dropped off / no-show for each child.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Driver journey view — drivers run the route, mark each student, and start/complete the trip.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Urgent notifications — a driver can alert the school and families instantly.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Route &amp; bus management — buses, routes, and dispatch managed centrally.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731520"/>
            <a:ext cx="3657600" cy="34747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868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🗓️  School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2801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Shared calendar &amp; events — a single school calendar everyone can see and add to.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Holidays &amp; weekend configuration — the official school year, reflected everywhere.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Registration — onboard new students and families into the platform.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Profiles &amp; directories — student, teacher, and colleague profiles; a staff directory.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Self-service profile — users update their photo, bio, and phone; sensitive changes go through approval.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731520"/>
            <a:ext cx="3657600" cy="34747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868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🛠️  Administration &amp;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2801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User management — manage students, parents, and employees from one place.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Roles &amp; permissions — fine-grained control with custom roles; every sensitive action is gated at the API.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Course &amp; teaching-scope management — create and assign staff to trilingual courses; every change is audited.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Parent–child links — connect each parent to exactly the right children.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Approval workflows — name-change, birth-date-change, and payment approvals.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3657600" cy="34747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🌍  Built-in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377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iOS, Android, and Web from one codebase.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Full Arabic &amp; English, with right-to-left support done properly.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Dark mode across the entire app.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White-label branding — ship as your school's own branded app.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A8B2D1"/>
                </a:solidFill>
              </a:defRPr>
            </a:pPr>
            <a:r>
              <a:t>▹  Bank-grade security — token-based sign-in, permission-scoped data, and time-limited secure media links.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onsolas"/>
              </a:defRPr>
            </a:pPr>
            <a:r>
              <a:t>05.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F1FF"/>
                </a:solidFill>
                <a:latin typeface="Calibri"/>
              </a:defRPr>
            </a:pPr>
            <a:r>
              <a:t>The Real Problems Sawaed Elm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B0"/>
                </a:solidFill>
                <a:latin typeface="Calibri"/>
              </a:defRPr>
            </a:pPr>
            <a:r>
              <a:t>✗  Parents are in the dark about attendance, grades, homework, and fees until a problem is already big.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6459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CEDF"/>
                </a:solidFill>
                <a:latin typeface="Calibri"/>
              </a:defRPr>
            </a:pPr>
            <a:r>
              <a:t>✓  One app gives every parent a live, honest view of their own child — and Sawaed AI answers their questions instantly.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B0"/>
                </a:solidFill>
                <a:latin typeface="Calibri"/>
              </a:defRPr>
            </a:pPr>
            <a:r>
              <a:t>✗  Communication is scattered across WhatsApp groups, paper slips, and phone calls — messages get lost, and there's no privacy.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488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CEDF"/>
                </a:solidFill>
                <a:latin typeface="Calibri"/>
              </a:defRPr>
            </a:pPr>
            <a:r>
              <a:t>✓  One secure, school-only channel: targeted posts, private messaging, and push notifications that actually reach people.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B0"/>
                </a:solidFill>
                <a:latin typeface="Calibri"/>
              </a:defRPr>
            </a:pPr>
            <a:r>
              <a:t>✗  The front office drowns in repetitive calls — "was my son absent?", "what fees are due?", "when is the exam?"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6517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CEDF"/>
                </a:solidFill>
                <a:latin typeface="Calibri"/>
              </a:defRPr>
            </a:pPr>
            <a:r>
              <a:t>✓  Self-service answers plus a data-aware AI assistant handle these 24/7, freeing staff for real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B0"/>
                </a:solidFill>
                <a:latin typeface="Calibri"/>
              </a:defRPr>
            </a:pPr>
            <a:r>
              <a:t>✗  Low parent engagement — traditional school apps get opened only when there's a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1546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CEDF"/>
                </a:solidFill>
                <a:latin typeface="Calibri"/>
              </a:defRPr>
            </a:pPr>
            <a:r>
              <a:t>✓  A safe, school-only social feed with stories and reels makes families want to open the app every 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B0"/>
                </a:solidFill>
                <a:latin typeface="Calibri"/>
              </a:defRPr>
            </a:pPr>
            <a:r>
              <a:t>✗  Attendance is paper-based and slow, and parents find out about absences far too 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65760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CEDF"/>
                </a:solidFill>
                <a:latin typeface="Calibri"/>
              </a:defRPr>
            </a:pPr>
            <a:r>
              <a:t>✓  Digital attendance in seconds, with instant absence alerts to parents.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B0"/>
                </a:solidFill>
                <a:latin typeface="Calibri"/>
              </a:defRPr>
            </a:pPr>
            <a:r>
              <a:t>✗  Fee collection is chaotic — lost invoices, awkward reminders, unclear balances, and no record of who approved what.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1605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CEDF"/>
                </a:solidFill>
                <a:latin typeface="Calibri"/>
              </a:defRPr>
            </a:pPr>
            <a:r>
              <a:t>✓  Clear digital fee plans, one payment covering several months, an approval step before money counts, auto-generated invoices, transparent balances, and a permanent audit trail.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B0"/>
                </a:solidFill>
                <a:latin typeface="Calibri"/>
              </a:defRPr>
            </a:pPr>
            <a:r>
              <a:t>✗  Bus safety causes daily anxiety — parents don't know where the bus is or whether their child got 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6634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CEDF"/>
                </a:solidFill>
                <a:latin typeface="Calibri"/>
              </a:defRPr>
            </a:pPr>
            <a:r>
              <a:t>✓  Live GPS tracking and per-child pickup/drop-off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onsolas"/>
              </a:defRPr>
            </a:pPr>
            <a:r>
              <a:t>06.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F1FF"/>
                </a:solidFill>
                <a:latin typeface="Calibri"/>
              </a:defRPr>
            </a:pPr>
            <a:r>
              <a:t>The Benefits — for Everyone in the School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21031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👨‍👩‍👧 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B2D1"/>
                </a:solidFill>
                <a:latin typeface="Calibri"/>
              </a:defRPr>
            </a:pPr>
            <a:r>
              <a:t>Peace of mind and transparency: real answers about their child in seconds, in their own language, without calling the office.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657600" cy="21031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🎓 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B2D1"/>
                </a:solidFill>
                <a:latin typeface="Calibri"/>
              </a:defRPr>
            </a:pPr>
            <a:r>
              <a:t>A school life that feels modern — a feed, reels, and an AI assistant — plus clear visibility of homework, grades, and schedule.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657600" cy="21031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🧑‍🏫  Teachers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B2D1"/>
                </a:solidFill>
                <a:latin typeface="Calibri"/>
              </a:defRPr>
            </a:pPr>
            <a:r>
              <a:t>Save hours every week: attendance in seconds, homework and grading in-app, and fewer interruptions from repetitive parent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3657600" cy="21031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🧑‍💼  Administrators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B2D1"/>
                </a:solidFill>
                <a:latin typeface="Calibri"/>
              </a:defRPr>
            </a:pPr>
            <a:r>
              <a:t>Control and insight: analytics, reports, roles, approvals, and an audit trail — the whole school in one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931920"/>
            <a:ext cx="3657600" cy="21031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🚌  Drivers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72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B2D1"/>
                </a:solidFill>
                <a:latin typeface="Calibri"/>
              </a:defRPr>
            </a:pPr>
            <a:r>
              <a:t>A purpose-built route screen with per-student check-off and a direct line to the school.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3657600" cy="210312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F1FF"/>
                </a:solidFill>
                <a:latin typeface="Calibri"/>
              </a:defRPr>
            </a:pPr>
            <a:r>
              <a:t>🏫  School Leaders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572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B2D1"/>
                </a:solidFill>
                <a:latin typeface="Calibri"/>
              </a:defRPr>
            </a:pPr>
            <a:r>
              <a:t>A stronger brand, higher family satisfaction and retention, lower software costs, and a genuine competitive edge.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onsolas"/>
              </a:defRPr>
            </a:pPr>
            <a:r>
              <a:t>07.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F1FF"/>
                </a:solidFill>
                <a:latin typeface="Calibri"/>
              </a:defRPr>
            </a:pPr>
            <a:r>
              <a:t>Why It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onsolas"/>
              </a:defRPr>
            </a:pPr>
            <a:r>
              <a:t>Aspect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92B0"/>
                </a:solidFill>
                <a:latin typeface="Calibri"/>
              </a:defRPr>
            </a:pPr>
            <a:r>
              <a:t>Typical School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CEDF"/>
                </a:solidFill>
                <a:latin typeface="Calibri"/>
              </a:defRPr>
            </a:pPr>
            <a:r>
              <a:t>Sawaed Elm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F1FF"/>
                </a:solidFill>
                <a:latin typeface="Calibri"/>
              </a:defRPr>
            </a:pPr>
            <a:r>
              <a:t>Daily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B0"/>
                </a:solidFill>
                <a:latin typeface="Calibri"/>
              </a:defRPr>
            </a:pPr>
            <a:r>
              <a:t>Login only when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CEDF"/>
                </a:solidFill>
                <a:latin typeface="Calibri"/>
              </a:defRPr>
            </a:pPr>
            <a:r>
              <a:t>Social feed, stories &amp; reels keep families coming back daily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F1FF"/>
                </a:solidFill>
                <a:latin typeface="Calibri"/>
              </a:defRPr>
            </a:pPr>
            <a:r>
              <a:t>"AI"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B0"/>
                </a:solidFill>
                <a:latin typeface="Calibri"/>
              </a:defRPr>
            </a:pPr>
            <a:r>
              <a:t>Generic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CEDF"/>
                </a:solidFill>
                <a:latin typeface="Calibri"/>
              </a:defRPr>
            </a:pPr>
            <a:r>
              <a:t>Sawaed AI answers with the student's real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F1FF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B0"/>
                </a:solidFill>
                <a:latin typeface="Calibri"/>
              </a:defRPr>
            </a:pPr>
            <a:r>
              <a:t>One-way announcements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291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CEDF"/>
                </a:solidFill>
                <a:latin typeface="Calibri"/>
              </a:defRPr>
            </a:pPr>
            <a:r>
              <a:t>Two-way: reactions, comments, polls, targeted posts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F1FF"/>
                </a:solidFill>
                <a:latin typeface="Calibri"/>
              </a:defRPr>
            </a:pPr>
            <a:r>
              <a:t>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B0"/>
                </a:solidFill>
                <a:latin typeface="Calibri"/>
              </a:defRPr>
            </a:pPr>
            <a:r>
              <a:t>Basic attachments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CEDF"/>
                </a:solidFill>
                <a:latin typeface="Calibri"/>
              </a:defRPr>
            </a:pPr>
            <a:r>
              <a:t>Fast, secure photos &amp; video via global CDN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F1FF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B0"/>
                </a:solidFill>
                <a:latin typeface="Calibri"/>
              </a:defRPr>
            </a:pPr>
            <a:r>
              <a:t>Often English-only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572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CEDF"/>
                </a:solidFill>
                <a:latin typeface="Calibri"/>
              </a:defRPr>
            </a:pPr>
            <a:r>
              <a:t>Full Arabic &amp; English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0"/>
            <a:ext cx="1828800" cy="54864"/>
          </a:xfrm>
          <a:prstGeom prst="roundRect">
            <a:avLst/>
          </a:prstGeom>
          <a:solidFill>
            <a:srgbClr val="1BC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F1FF"/>
                </a:solidFill>
                <a:latin typeface="Calibri"/>
              </a:defRPr>
            </a:pPr>
            <a:r>
              <a:t>Ready to See It in 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B2D1"/>
                </a:solidFill>
                <a:latin typeface="Calibri"/>
              </a:defRPr>
            </a:pPr>
            <a:r>
              <a:t>For a live demo of the school social network and Sawaed AI, please get in touch.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CEDF"/>
                </a:solidFill>
                <a:latin typeface="Calibri"/>
              </a:defRPr>
            </a:pPr>
            <a:r>
              <a:t>info@sawaedelm.com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